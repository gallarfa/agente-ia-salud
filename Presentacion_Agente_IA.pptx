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097280"/>
            <a:ext cx="5943600" cy="4572000"/>
          </a:xfrm>
          <a:prstGeom prst="rect">
            <a:avLst/>
          </a:prstGeom>
          <a:noFill/>
        </p:spPr>
        <p:txBody>
          <a:bodyPr wrap="square">
            <a:spAutoFit/>
          </a:bodyPr>
          <a:lstStyle/>
          <a:p>
            <a:pPr>
              <a:spcAft>
                <a:spcPts val="2000"/>
              </a:spcAft>
              <a:defRPr sz="4000" b="1">
                <a:solidFill>
                  <a:srgbClr val="6366F1"/>
                </a:solidFill>
                <a:latin typeface="Arial"/>
              </a:defRPr>
            </a:pPr>
            <a:r>
              <a:t>AGENTE DE TRIAGE</a:t>
            </a:r>
            <a:br/>
            <a:r>
              <a:t>INTELIGENTE EN</a:t>
            </a:r>
            <a:br/>
            <a:r>
              <a:t>SALUD MENTAL</a:t>
            </a:r>
          </a:p>
          <a:p>
            <a:pPr>
              <a:spcAft>
                <a:spcPts val="3000"/>
              </a:spcAft>
              <a:defRPr sz="1800">
                <a:solidFill>
                  <a:srgbClr val="F8FAFC"/>
                </a:solidFill>
                <a:latin typeface="Arial"/>
              </a:defRPr>
            </a:pPr>
            <a:r>
              <a:t>Clasificación Automática de Urgencias Médicas con Procesamiento Local y Reglas Semánticas</a:t>
            </a:r>
          </a:p>
          <a:p>
            <a:pPr>
              <a:lnSpc>
                <a:spcPct val="130000"/>
              </a:lnSpc>
              <a:defRPr sz="1300">
                <a:solidFill>
                  <a:srgbClr val="94A3B8"/>
                </a:solidFill>
                <a:latin typeface="Arial"/>
              </a:defRPr>
            </a:pPr>
            <a:r>
              <a:t>Estudiante: Gallardo Fernando Andrés</a:t>
            </a:r>
            <a:br/>
            <a:r>
              <a:t>Carrera: 3er año - Analista de Sistemas</a:t>
            </a:r>
            <a:br/>
            <a:r>
              <a:t>Materia: IA Aplicada al Desarrollo de Software</a:t>
            </a:r>
            <a:br/>
            <a:r>
              <a:t>Profesora: Miriam Elena Coronel</a:t>
            </a:r>
            <a:br/>
            <a:r>
              <a:t>Instituto Superior Combate de Mbororé | Junio de 2026</a:t>
            </a:r>
          </a:p>
        </p:txBody>
      </p:sp>
      <p:pic>
        <p:nvPicPr>
          <p:cNvPr id="3" name="Picture 2" descr="portada_triage_ia.png"/>
          <p:cNvPicPr>
            <a:picLocks noChangeAspect="1"/>
          </p:cNvPicPr>
          <p:nvPr/>
        </p:nvPicPr>
        <p:blipFill>
          <a:blip r:embed="rId2"/>
          <a:stretch>
            <a:fillRect/>
          </a:stretch>
        </p:blipFill>
        <p:spPr>
          <a:xfrm>
            <a:off x="6858000" y="1097280"/>
            <a:ext cx="4572000" cy="4572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Introducción al Triage en Salud Mental</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La mesa de entrada hospitalaria es el primer punto de recepción física o digital en situaciones de crisis de salud mental.</a:t>
            </a:r>
          </a:p>
          <a:p>
            <a:pPr>
              <a:lnSpc>
                <a:spcPct val="125000"/>
              </a:lnSpc>
              <a:spcAft>
                <a:spcPts val="1400"/>
              </a:spcAft>
              <a:defRPr sz="1650">
                <a:solidFill>
                  <a:srgbClr val="F8FAFC"/>
                </a:solidFill>
                <a:latin typeface="Arial"/>
              </a:defRPr>
            </a:pPr>
            <a:r>
              <a:t>• Una clasificación rápida y asertiva salva vidas ante situaciones críticas de autolesión o ideación suicida activa.</a:t>
            </a:r>
          </a:p>
          <a:p>
            <a:pPr>
              <a:lnSpc>
                <a:spcPct val="125000"/>
              </a:lnSpc>
              <a:spcAft>
                <a:spcPts val="1400"/>
              </a:spcAft>
              <a:defRPr sz="1650">
                <a:solidFill>
                  <a:srgbClr val="F8FAFC"/>
                </a:solidFill>
                <a:latin typeface="Arial"/>
              </a:defRPr>
            </a:pPr>
            <a:r>
              <a:t>• Desafíos habituales del servicio: Congestión de consultas, escasez de especialistas y personal administrativo de primera línea no capacitado clínicamente.</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Comenzá la defensa explicando que el triage en salud mental no busca dar diagnósticos ni recetas terapéuticas. Su única función es clasificar el nivel de urgencia de una consulta para derivarla de forma priorizada a la guardia médica.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El Problema en la Admisión</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Cuello de botella en la atención debido a la mezcla indiscriminada de trámites generales (recetas, turnos) y crisis urgentes en la misma cola de espera.</a:t>
            </a:r>
          </a:p>
          <a:p>
            <a:pPr>
              <a:lnSpc>
                <a:spcPct val="125000"/>
              </a:lnSpc>
              <a:spcAft>
                <a:spcPts val="1400"/>
              </a:spcAft>
              <a:defRPr sz="1650">
                <a:solidFill>
                  <a:srgbClr val="F8FAFC"/>
                </a:solidFill>
                <a:latin typeface="Arial"/>
              </a:defRPr>
            </a:pPr>
            <a:r>
              <a:t>• Inexistencia de pre-filtros automáticos o de alertas tempranas sobre textos o discursos de riesgo en los canales digitales de atención.</a:t>
            </a:r>
          </a:p>
          <a:p>
            <a:pPr>
              <a:lnSpc>
                <a:spcPct val="125000"/>
              </a:lnSpc>
              <a:spcAft>
                <a:spcPts val="1400"/>
              </a:spcAft>
              <a:defRPr sz="1650">
                <a:solidFill>
                  <a:srgbClr val="F8FAFC"/>
                </a:solidFill>
                <a:latin typeface="Arial"/>
              </a:defRPr>
            </a:pPr>
            <a:r>
              <a:t>• Demora crítica en la derivación: Pacientes con ideación suicida o brotes agudos pueden esperar horas antes de ser detectados por el equipo médico.</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Resaltá el peligro clínico del cuello de botella: el personal administrativo dedica tiempo a trámites burocráticos rutinarios mientras un caso con riesgo inminente de vida espera en silencio en la sala de espera física o en un buzón digital.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Objetivos del Proyecto</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Desarrollar un agente autónomo mínimo capaz de pre-clasificar las consultas entrantes en 🔴 ALTA, 🟡 MEDIA o 🟢 BAJA de forma instantánea.</a:t>
            </a:r>
          </a:p>
          <a:p>
            <a:pPr>
              <a:lnSpc>
                <a:spcPct val="125000"/>
              </a:lnSpc>
              <a:spcAft>
                <a:spcPts val="1400"/>
              </a:spcAft>
              <a:defRPr sz="1650">
                <a:solidFill>
                  <a:srgbClr val="F8FAFC"/>
                </a:solidFill>
                <a:latin typeface="Arial"/>
              </a:defRPr>
            </a:pPr>
            <a:r>
              <a:t>• Diseñar un sistema de procesamiento 100% local (On-Premise) para resguardar la confidencialidad médica de los datos de salud mental.</a:t>
            </a:r>
          </a:p>
          <a:p>
            <a:pPr>
              <a:lnSpc>
                <a:spcPct val="125000"/>
              </a:lnSpc>
              <a:spcAft>
                <a:spcPts val="1400"/>
              </a:spcAft>
              <a:defRPr sz="1650">
                <a:solidFill>
                  <a:srgbClr val="F8FAFC"/>
                </a:solidFill>
                <a:latin typeface="Arial"/>
              </a:defRPr>
            </a:pPr>
            <a:r>
              <a:t>• Construir un software viable, libre de licencias o costos de APIs comerciales, permitiendo su fácil adopción en hospitales públicos.</a:t>
            </a:r>
          </a:p>
          <a:p>
            <a:pPr>
              <a:lnSpc>
                <a:spcPct val="125000"/>
              </a:lnSpc>
              <a:spcAft>
                <a:spcPts val="1400"/>
              </a:spcAft>
              <a:defRPr sz="1650">
                <a:solidFill>
                  <a:srgbClr val="F8FAFC"/>
                </a:solidFill>
                <a:latin typeface="Arial"/>
              </a:defRPr>
            </a:pPr>
            <a:r>
              <a:t>• Funcionar como un asistente y copiloto del personal administrativo, manteniendo siempre al médico como validador final (Human-in-the-loop).</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Enfatizá los tres pilares del proyecto: eficiencia organizativa para clasificar urgencias, protección absoluta de la privacidad de los datos mediante IA local, y viabilidad económica para la salud pública comunitaria.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Evolución: De Reglas a IA Semántica</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El desarrollo avanzó a través de dos fases diferenciadas para evaluar enfoques tecnológicos tradicionales y modernos:</a:t>
            </a:r>
          </a:p>
          <a:p>
            <a:pPr>
              <a:lnSpc>
                <a:spcPct val="125000"/>
              </a:lnSpc>
              <a:spcAft>
                <a:spcPts val="1400"/>
              </a:spcAft>
              <a:defRPr sz="1650">
                <a:solidFill>
                  <a:srgbClr val="F8FAFC"/>
                </a:solidFill>
                <a:latin typeface="Arial"/>
              </a:defRPr>
            </a:pPr>
            <a:r>
              <a:t>• Fase 1: Agente Condicional por Reglas (agente.py). Filtro rápido basado en la detección de palabras clave exactas y sinónimos predefinidos.</a:t>
            </a:r>
          </a:p>
          <a:p>
            <a:pPr>
              <a:lnSpc>
                <a:spcPct val="125000"/>
              </a:lnSpc>
              <a:spcAft>
                <a:spcPts val="1400"/>
              </a:spcAft>
              <a:defRPr sz="1650">
                <a:solidFill>
                  <a:srgbClr val="F8FAFC"/>
                </a:solidFill>
                <a:latin typeface="Arial"/>
              </a:defRPr>
            </a:pPr>
            <a:r>
              <a:t>• Fase 2: Agente Cognitivo Semántico con IA Local (agente_ollama.py). Integración de un modelo LLM local capaz de discernir intenciones y lenguaje natural.</a:t>
            </a:r>
          </a:p>
          <a:p>
            <a:pPr>
              <a:lnSpc>
                <a:spcPct val="125000"/>
              </a:lnSpc>
              <a:spcAft>
                <a:spcPts val="1400"/>
              </a:spcAft>
              <a:defRPr sz="1650">
                <a:solidFill>
                  <a:srgbClr val="F8FAFC"/>
                </a:solidFill>
                <a:latin typeface="Arial"/>
              </a:defRPr>
            </a:pPr>
            <a:r>
              <a:t>• Integridad de Datos: Ambos agentes exportan sus métricas y resultados a archivos CSV y reportes interactivos HTML de auditoría clínica.</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Explica que esta evolución demuestra el proceso de ingeniería de software. Partimos de una lógica de programación clásica por coincidencia de texto, y la llevamos a una solución inteligente que comprende el contexto del paciente.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Fase 1: Agente Basado en Reglas (agente.py)</a:t>
            </a:r>
          </a:p>
        </p:txBody>
      </p:sp>
      <p:pic>
        <p:nvPicPr>
          <p:cNvPr id="3" name="Picture 2" descr="limitacion_reglas.png"/>
          <p:cNvPicPr>
            <a:picLocks noChangeAspect="1"/>
          </p:cNvPicPr>
          <p:nvPr/>
        </p:nvPicPr>
        <p:blipFill>
          <a:blip r:embed="rId2"/>
          <a:stretch>
            <a:fillRect/>
          </a:stretch>
        </p:blipFill>
        <p:spPr>
          <a:xfrm>
            <a:off x="7132320" y="1463040"/>
            <a:ext cx="4297680" cy="3200400"/>
          </a:xfrm>
          <a:prstGeom prst="rect">
            <a:avLst/>
          </a:prstGeom>
        </p:spPr>
      </p:pic>
      <p:sp>
        <p:nvSpPr>
          <p:cNvPr id="4" name="TextBox 3"/>
          <p:cNvSpPr txBox="1"/>
          <p:nvPr/>
        </p:nvSpPr>
        <p:spPr>
          <a:xfrm>
            <a:off x="685800" y="1371600"/>
            <a:ext cx="5943600"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Clasificación rápida a través de diccionarios de palabras clave estructurados en Python (incluye regionalismos y jerga local).</a:t>
            </a:r>
          </a:p>
          <a:p>
            <a:pPr>
              <a:lnSpc>
                <a:spcPct val="125000"/>
              </a:lnSpc>
              <a:spcAft>
                <a:spcPts val="1400"/>
              </a:spcAft>
              <a:defRPr sz="1650">
                <a:solidFill>
                  <a:srgbClr val="F8FAFC"/>
                </a:solidFill>
                <a:latin typeface="Arial"/>
              </a:defRPr>
            </a:pPr>
            <a:r>
              <a:t>• 🔴 Urgencia ALTA (Guardia/Inmediato): Detección de términos de riesgo explícito como 'pastillas', 'suicidio', 'voces', 'muerte', 'lastime'.</a:t>
            </a:r>
          </a:p>
          <a:p>
            <a:pPr>
              <a:lnSpc>
                <a:spcPct val="125000"/>
              </a:lnSpc>
              <a:spcAft>
                <a:spcPts val="1400"/>
              </a:spcAft>
              <a:defRPr sz="1650">
                <a:solidFill>
                  <a:srgbClr val="F8FAFC"/>
                </a:solidFill>
                <a:latin typeface="Arial"/>
              </a:defRPr>
            </a:pPr>
            <a:r>
              <a:t>• 🟡 Urgencia MEDIA (Consultorio/24hs): Detección de síntomas agudos como 'ansiedad', 'pánico', 'angustia', 'nervioso', 'bajón'.</a:t>
            </a:r>
          </a:p>
          <a:p>
            <a:pPr>
              <a:lnSpc>
                <a:spcPct val="125000"/>
              </a:lnSpc>
              <a:spcAft>
                <a:spcPts val="1400"/>
              </a:spcAft>
              <a:defRPr sz="1650">
                <a:solidFill>
                  <a:srgbClr val="F8FAFC"/>
                </a:solidFill>
                <a:latin typeface="Arial"/>
              </a:defRPr>
            </a:pPr>
            <a:r>
              <a:t>• 🟢 Urgencia BAJA (Controles/72hs): Caso por defecto. Renovación de recetas, control de turnos o trámites administrativos.</a:t>
            </a:r>
          </a:p>
        </p:txBody>
      </p:sp>
      <p:sp>
        <p:nvSpPr>
          <p:cNvPr id="5" name="Rounded Rectangle 4"/>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Señalá que el sistema de reglas es útil por su velocidad y cero consumo de recursos, pero explícale a la profesora que tiene límites muy severos de flexibilidad y comprensión del lenguaje real.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Limitaciones Técnicas del Enfoque Rígido</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Falsos Negativos Graves: Si el paciente expresa su angustia de manera indirecta (ej: 'No quiero despertar mañana'), el script no detecta ninguna alarma y lo deriva a 72hs.</a:t>
            </a:r>
          </a:p>
          <a:p>
            <a:pPr>
              <a:lnSpc>
                <a:spcPct val="125000"/>
              </a:lnSpc>
              <a:spcAft>
                <a:spcPts val="1400"/>
              </a:spcAft>
              <a:defRPr sz="1650">
                <a:solidFill>
                  <a:srgbClr val="F8FAFC"/>
                </a:solidFill>
                <a:latin typeface="Arial"/>
              </a:defRPr>
            </a:pPr>
            <a:r>
              <a:t>• Falsos Positivos Innecesarios: Una solicitud puramente administrativa que incluya una palabra clave de alarma se clasifica como código rojo (ej: 'Quiero cambiar el turno porque olvidé mis pastillas').</a:t>
            </a:r>
          </a:p>
          <a:p>
            <a:pPr>
              <a:lnSpc>
                <a:spcPct val="125000"/>
              </a:lnSpc>
              <a:spcAft>
                <a:spcPts val="1400"/>
              </a:spcAft>
              <a:defRPr sz="1650">
                <a:solidFill>
                  <a:srgbClr val="F8FAFC"/>
                </a:solidFill>
                <a:latin typeface="Arial"/>
              </a:defRPr>
            </a:pPr>
            <a:r>
              <a:t>• Falta de Contexto: El sistema no entiende metáforas, errores ortográficos, negaciones ni la intención general detrás del texto del paciente.</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Menciona este ejemplo contundente: ante la frase 'Quiero terminar con todo', el sistema de reglas falla porque no contiene palabras del diccionario (como 'suicidio'). Esto justifica la necesidad de una IA semántica.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Fase 2: Agente Semántico Local (agente_ollama.py)</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Integración de Inteligencia Artificial real y local mediante el framework Ollama corriendo en un puerto de red local.</a:t>
            </a:r>
          </a:p>
          <a:p>
            <a:pPr>
              <a:lnSpc>
                <a:spcPct val="125000"/>
              </a:lnSpc>
              <a:spcAft>
                <a:spcPts val="1400"/>
              </a:spcAft>
              <a:defRPr sz="1650">
                <a:solidFill>
                  <a:srgbClr val="F8FAFC"/>
                </a:solidFill>
                <a:latin typeface="Arial"/>
              </a:defRPr>
            </a:pPr>
            <a:r>
              <a:t>• Modelo de Lenguaje Llama 3.2 (Meta): Modelo ligero y optimizado para ejecutarse en computadoras estándar con excelente comprensión en español.</a:t>
            </a:r>
          </a:p>
          <a:p>
            <a:pPr>
              <a:lnSpc>
                <a:spcPct val="125000"/>
              </a:lnSpc>
              <a:spcAft>
                <a:spcPts val="1400"/>
              </a:spcAft>
              <a:defRPr sz="1650">
                <a:solidFill>
                  <a:srgbClr val="F8FAFC"/>
                </a:solidFill>
                <a:latin typeface="Arial"/>
              </a:defRPr>
            </a:pPr>
            <a:r>
              <a:t>• Procesamiento 100% offline: Una vez descargado el modelo, el agente realiza el triage sin requerir conexión a internet.</a:t>
            </a:r>
          </a:p>
          <a:p>
            <a:pPr>
              <a:lnSpc>
                <a:spcPct val="125000"/>
              </a:lnSpc>
              <a:spcAft>
                <a:spcPts val="1400"/>
              </a:spcAft>
              <a:defRPr sz="1650">
                <a:solidFill>
                  <a:srgbClr val="F8FAFC"/>
                </a:solidFill>
                <a:latin typeface="Arial"/>
              </a:defRPr>
            </a:pPr>
            <a:r>
              <a:t>• Automatización de Auditoría: Salida JSON mapeada por variables y exportación automática a reportes HTML dinámicos para los coordinadores médicos.</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Detalla que Ollama permite ejecutar modelos de lenguaje de forma local. Llama 3.2 es el motor semántico que lee el texto del paciente y deduce el nivel de triage de manera inteligente, sin enviar datos a la nube.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El Prompt de Triage Estructurado</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El prompt actúa como el código del sistema cognitivo. Se estructuró minuciosamente para delimitar el comportamiento de la IA:</a:t>
            </a:r>
          </a:p>
          <a:p>
            <a:pPr>
              <a:lnSpc>
                <a:spcPct val="125000"/>
              </a:lnSpc>
              <a:spcAft>
                <a:spcPts val="1400"/>
              </a:spcAft>
              <a:defRPr sz="1650">
                <a:solidFill>
                  <a:srgbClr val="F8FAFC"/>
                </a:solidFill>
                <a:latin typeface="Arial"/>
              </a:defRPr>
            </a:pPr>
            <a:r>
              <a:t>• Asignación de Rol: Eres un psiquiatra y enfermero de salud mental senior experto en el Sistema de Triage Manchester.</a:t>
            </a:r>
          </a:p>
          <a:p>
            <a:pPr>
              <a:lnSpc>
                <a:spcPct val="125000"/>
              </a:lnSpc>
              <a:spcAft>
                <a:spcPts val="1400"/>
              </a:spcAft>
              <a:defRPr sz="1650">
                <a:solidFill>
                  <a:srgbClr val="F8FAFC"/>
                </a:solidFill>
                <a:latin typeface="Arial"/>
              </a:defRPr>
            </a:pPr>
            <a:r>
              <a:t>• Guías Clínicas Explícitas: Reglas detalladas para discriminar riesgo vital inminente (Alta), sintomatología aguda (Media) o trámites (Baja).</a:t>
            </a:r>
          </a:p>
          <a:p>
            <a:pPr>
              <a:lnSpc>
                <a:spcPct val="125000"/>
              </a:lnSpc>
              <a:spcAft>
                <a:spcPts val="1400"/>
              </a:spcAft>
              <a:defRPr sz="1650">
                <a:solidFill>
                  <a:srgbClr val="F8FAFC"/>
                </a:solidFill>
                <a:latin typeface="Arial"/>
              </a:defRPr>
            </a:pPr>
            <a:r>
              <a:t>• Restricción de Formato: Obligación estricta de responder únicamente con un objeto JSON de dos llaves (prioridad y justificacion).</a:t>
            </a:r>
          </a:p>
          <a:p>
            <a:pPr>
              <a:lnSpc>
                <a:spcPct val="125000"/>
              </a:lnSpc>
              <a:spcAft>
                <a:spcPts val="1400"/>
              </a:spcAft>
              <a:defRPr sz="1650">
                <a:solidFill>
                  <a:srgbClr val="F8FAFC"/>
                </a:solidFill>
                <a:latin typeface="Arial"/>
              </a:defRPr>
            </a:pPr>
            <a:r>
              <a:t>• Mitigación Médica: Prohibición explícita de dar consejos médicos o terapéuticos en la justificación.</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Explicá que el prompt estructurado es el corazón de la IA. Controla la respuesta para evitar alucinaciones, encasilla al modelo en un rol y le prohíbe emitir opiniones médicas o recetar fármacos, enfocándose solo en clasificar.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Mitigación de Alucinaciones y Parser Robustecido</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Ajuste de Temperatura (0.3): Se redujo a un valor bajo para asegurar respuestas factuales, lógicas y repetibles, minimizando la 'creatividad' del modelo.</a:t>
            </a:r>
          </a:p>
          <a:p>
            <a:pPr>
              <a:lnSpc>
                <a:spcPct val="125000"/>
              </a:lnSpc>
              <a:spcAft>
                <a:spcPts val="1400"/>
              </a:spcAft>
              <a:defRPr sz="1650">
                <a:solidFill>
                  <a:srgbClr val="F8FAFC"/>
                </a:solidFill>
                <a:latin typeface="Arial"/>
              </a:defRPr>
            </a:pPr>
            <a:r>
              <a:t>• Limpieza de Salidas por Regex: En caso de que el modelo devuelva texto adicional o markdown (```json ... ```), el código aísla el objeto JSON mediante expresiones regulares.</a:t>
            </a:r>
          </a:p>
          <a:p>
            <a:pPr>
              <a:lnSpc>
                <a:spcPct val="125000"/>
              </a:lnSpc>
              <a:spcAft>
                <a:spcPts val="1400"/>
              </a:spcAft>
              <a:defRPr sz="1650">
                <a:solidFill>
                  <a:srgbClr val="F8FAFC"/>
                </a:solidFill>
                <a:latin typeface="Arial"/>
              </a:defRPr>
            </a:pPr>
            <a:r>
              <a:t>• Estrategia de Fallback (Respaldo): Si el JSON del modelo falla en estructurarse, el script autodetecta la prioridad analizando semánticamente el texto recuperado.</a:t>
            </a:r>
          </a:p>
          <a:p>
            <a:pPr>
              <a:lnSpc>
                <a:spcPct val="125000"/>
              </a:lnSpc>
              <a:spcAft>
                <a:spcPts val="1400"/>
              </a:spcAft>
              <a:defRPr sz="1650">
                <a:solidFill>
                  <a:srgbClr val="F8FAFC"/>
                </a:solidFill>
                <a:latin typeface="Arial"/>
              </a:defRPr>
            </a:pPr>
            <a:r>
              <a:t>• Validación de Campos: Verificación en memoria de que existan las llaves 'prioridad' y 'justificacion' antes de procesar el registro.</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Destacá la seguridad de software: en salud no podemos confiar a ciegas en la salida de un LLM. Por eso, limitamos su temperatura a 0.3 y desarrollamos un parser con regex que limpia y repara la estructura del JSON.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Ética y Privacidad: Procesamiento Local</a:t>
            </a:r>
          </a:p>
        </p:txBody>
      </p:sp>
      <p:pic>
        <p:nvPicPr>
          <p:cNvPr id="3" name="Picture 2" descr="ia_local_segura.png"/>
          <p:cNvPicPr>
            <a:picLocks noChangeAspect="1"/>
          </p:cNvPicPr>
          <p:nvPr/>
        </p:nvPicPr>
        <p:blipFill>
          <a:blip r:embed="rId2"/>
          <a:stretch>
            <a:fillRect/>
          </a:stretch>
        </p:blipFill>
        <p:spPr>
          <a:xfrm>
            <a:off x="7132320" y="1463040"/>
            <a:ext cx="4297680" cy="3200400"/>
          </a:xfrm>
          <a:prstGeom prst="rect">
            <a:avLst/>
          </a:prstGeom>
        </p:spPr>
      </p:pic>
      <p:sp>
        <p:nvSpPr>
          <p:cNvPr id="4" name="TextBox 3"/>
          <p:cNvSpPr txBox="1"/>
          <p:nvPr/>
        </p:nvSpPr>
        <p:spPr>
          <a:xfrm>
            <a:off x="685800" y="1371600"/>
            <a:ext cx="5943600"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Los motivos de consulta en psiquiatría y psicología son considerados 'datos altamente sensibles' protegidos por el secreto médico y la ética profesional.</a:t>
            </a:r>
          </a:p>
          <a:p>
            <a:pPr>
              <a:lnSpc>
                <a:spcPct val="125000"/>
              </a:lnSpc>
              <a:spcAft>
                <a:spcPts val="1400"/>
              </a:spcAft>
              <a:defRPr sz="1650">
                <a:solidFill>
                  <a:srgbClr val="F8FAFC"/>
                </a:solidFill>
                <a:latin typeface="Arial"/>
              </a:defRPr>
            </a:pPr>
            <a:r>
              <a:t>• API Centralizada vs. Local: Enviar textos clínicos a servidores en la nube de OpenAI o Anthropic representa un riesgo ético crítico de violación de confidencialidad.</a:t>
            </a:r>
          </a:p>
          <a:p>
            <a:pPr>
              <a:lnSpc>
                <a:spcPct val="125000"/>
              </a:lnSpc>
              <a:spcAft>
                <a:spcPts val="1400"/>
              </a:spcAft>
              <a:defRPr sz="1650">
                <a:solidFill>
                  <a:srgbClr val="F8FAFC"/>
                </a:solidFill>
                <a:latin typeface="Arial"/>
              </a:defRPr>
            </a:pPr>
            <a:r>
              <a:t>• Garantía de Privacidad Local: Al correr Llama 3.2 de forma 100% local, ninguna información del paciente sale del hardware físico del hospital.</a:t>
            </a:r>
          </a:p>
          <a:p>
            <a:pPr>
              <a:lnSpc>
                <a:spcPct val="125000"/>
              </a:lnSpc>
              <a:spcAft>
                <a:spcPts val="1400"/>
              </a:spcAft>
              <a:defRPr sz="1650">
                <a:solidFill>
                  <a:srgbClr val="F8FAFC"/>
                </a:solidFill>
                <a:latin typeface="Arial"/>
              </a:defRPr>
            </a:pPr>
            <a:r>
              <a:t>• Control Absoluto: Los datos no se almacenan en servidores externos ni se usan para reentrenar modelos comerciales.</a:t>
            </a:r>
          </a:p>
        </p:txBody>
      </p:sp>
      <p:sp>
        <p:nvSpPr>
          <p:cNvPr id="5" name="Rounded Rectangle 4"/>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Este es un punto clave de la ética en IA. La confidencialidad y la privacidad de datos de salud hacen inviable enviar consultas a nubes privadas en el extranjero. Ollama local resuelve esta restricción ética por completo.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Marco Legal en Argentina</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Ley N° 25.326 de Protección de Datos Personales: Los datos de salud mental son datos sensibles. El hospital es responsable de su resguardo y prohíbe su libre cesión.</a:t>
            </a:r>
          </a:p>
          <a:p>
            <a:pPr>
              <a:lnSpc>
                <a:spcPct val="125000"/>
              </a:lnSpc>
              <a:spcAft>
                <a:spcPts val="1400"/>
              </a:spcAft>
              <a:defRPr sz="1650">
                <a:solidFill>
                  <a:srgbClr val="F8FAFC"/>
                </a:solidFill>
                <a:latin typeface="Arial"/>
              </a:defRPr>
            </a:pPr>
            <a:r>
              <a:t>• Ley Nacional de Salud Mental N° 26.657: Promueve la atención humanizada, interdisciplinaria y el derecho a la confidencialidad de la identidad del paciente.</a:t>
            </a:r>
          </a:p>
          <a:p>
            <a:pPr>
              <a:lnSpc>
                <a:spcPct val="125000"/>
              </a:lnSpc>
              <a:spcAft>
                <a:spcPts val="1400"/>
              </a:spcAft>
              <a:defRPr sz="1650">
                <a:solidFill>
                  <a:srgbClr val="F8FAFC"/>
                </a:solidFill>
                <a:latin typeface="Arial"/>
              </a:defRPr>
            </a:pPr>
            <a:r>
              <a:t>• Supervisión Humana Obligatoria (Human-in-the-Loop): La IA no toma decisiones médicas de forma autónoma. Ordena la fila administrativa y prioriza el triage, pero el profesional médico valida y ejecuta la atención.</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Señalá que el sistema fue desarrollado respetando las leyes nacionales. Cumple la Ley 25.326 al no ceder datos a nubes extranjeras, y respeta la Ley de Salud Mental al mantener a los médicos a cargo de la validación final.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Equidad y Acceso a la Salud</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Costo Cero por Volumen: A diferencia de las APIs pagas que cobran por token/consulta, el modelo local de Ollama no tiene costo operativo por uso.</a:t>
            </a:r>
          </a:p>
          <a:p>
            <a:pPr>
              <a:lnSpc>
                <a:spcPct val="125000"/>
              </a:lnSpc>
              <a:spcAft>
                <a:spcPts val="1400"/>
              </a:spcAft>
              <a:defRPr sz="1650">
                <a:solidFill>
                  <a:srgbClr val="F8FAFC"/>
                </a:solidFill>
                <a:latin typeface="Arial"/>
              </a:defRPr>
            </a:pPr>
            <a:r>
              <a:t>• Independencia de Internet: Funciona offline, lo que permite implementar el agente en zonas rurales, salas de atención periféricas u hospitales comunitarios con conectividad inestable.</a:t>
            </a:r>
          </a:p>
          <a:p>
            <a:pPr>
              <a:lnSpc>
                <a:spcPct val="125000"/>
              </a:lnSpc>
              <a:spcAft>
                <a:spcPts val="1400"/>
              </a:spcAft>
              <a:defRPr sz="1650">
                <a:solidFill>
                  <a:srgbClr val="F8FAFC"/>
                </a:solidFill>
                <a:latin typeface="Arial"/>
              </a:defRPr>
            </a:pPr>
            <a:r>
              <a:t>• Democratización Tecnológica: Permite a las instituciones de salud pública acceder a herramientas de inteligencia artificial de última generación sin comprometer presupuestos.</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Mencioná el impacto social: la IA local democratiza el acceso a la tecnología médica. Permite a los hospitales públicos misioneros aplicar triage inteligente con hardware básico y sin necesidad de internet permanente.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Resultados y Comparativa de Triage</a:t>
            </a:r>
          </a:p>
        </p:txBody>
      </p:sp>
      <p:pic>
        <p:nvPicPr>
          <p:cNvPr id="3" name="Picture 2" descr="doctor_asistente_ia.png"/>
          <p:cNvPicPr>
            <a:picLocks noChangeAspect="1"/>
          </p:cNvPicPr>
          <p:nvPr/>
        </p:nvPicPr>
        <p:blipFill>
          <a:blip r:embed="rId2"/>
          <a:stretch>
            <a:fillRect/>
          </a:stretch>
        </p:blipFill>
        <p:spPr>
          <a:xfrm>
            <a:off x="7132320" y="1463040"/>
            <a:ext cx="4297680" cy="3200400"/>
          </a:xfrm>
          <a:prstGeom prst="rect">
            <a:avLst/>
          </a:prstGeom>
        </p:spPr>
      </p:pic>
      <p:sp>
        <p:nvSpPr>
          <p:cNvPr id="4" name="TextBox 3"/>
          <p:cNvSpPr txBox="1"/>
          <p:nvPr/>
        </p:nvSpPr>
        <p:spPr>
          <a:xfrm>
            <a:off x="685800" y="1371600"/>
            <a:ext cx="5943600"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Pruebas cruzadas de laboratorio sobre un lote clínico de pacientes en el hospital ficticio:</a:t>
            </a:r>
          </a:p>
          <a:p>
            <a:pPr>
              <a:lnSpc>
                <a:spcPct val="125000"/>
              </a:lnSpc>
              <a:spcAft>
                <a:spcPts val="1400"/>
              </a:spcAft>
              <a:defRPr sz="1650">
                <a:solidFill>
                  <a:srgbClr val="F8FAFC"/>
                </a:solidFill>
                <a:latin typeface="Arial"/>
              </a:defRPr>
            </a:pPr>
            <a:r>
              <a:t>• Reglas (resultados.csv): Rápido pero binario. Erró en clasificaciones indirectas de suicidio (Alta clasificada como Baja) y de recetas médicas (Baja clasificada como Alta).</a:t>
            </a:r>
          </a:p>
          <a:p>
            <a:pPr>
              <a:lnSpc>
                <a:spcPct val="125000"/>
              </a:lnSpc>
              <a:spcAft>
                <a:spcPts val="1400"/>
              </a:spcAft>
              <a:defRPr sz="1650">
                <a:solidFill>
                  <a:srgbClr val="F8FAFC"/>
                </a:solidFill>
                <a:latin typeface="Arial"/>
              </a:defRPr>
            </a:pPr>
            <a:r>
              <a:t>• Ollama (resultados_ollama.csv): Clasificación correcta del 100% del lote, interpretando el sentido figurado del dolor psíquico y proveyendo justificaciones técnicas lógicas.</a:t>
            </a:r>
          </a:p>
          <a:p>
            <a:pPr>
              <a:lnSpc>
                <a:spcPct val="125000"/>
              </a:lnSpc>
              <a:spcAft>
                <a:spcPts val="1400"/>
              </a:spcAft>
              <a:defRPr sz="1650">
                <a:solidFill>
                  <a:srgbClr val="F8FAFC"/>
                </a:solidFill>
                <a:latin typeface="Arial"/>
              </a:defRPr>
            </a:pPr>
            <a:r>
              <a:t>• Visualización Dinámica: Dashboard interactivo HTML generado para auditorías médicas de la guardia.</a:t>
            </a:r>
          </a:p>
        </p:txBody>
      </p:sp>
      <p:sp>
        <p:nvSpPr>
          <p:cNvPr id="5" name="Rounded Rectangle 4"/>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Comentá los resultados de tus pruebas. El sistema de Ollama demostró una precisión semántica del 100% en el lote de prueba, logrando justificar clínicamente sus decisiones de derivación frente a la rigidez de las reglas.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bIns="0" rIns="0">
            <a:spAutoFit/>
          </a:bodyPr>
          <a:lstStyle/>
          <a:p>
            <a:pPr>
              <a:defRPr sz="3600" b="1">
                <a:solidFill>
                  <a:srgbClr val="F8FAFC"/>
                </a:solidFill>
                <a:latin typeface="Arial"/>
              </a:defRPr>
            </a:pPr>
            <a:r>
              <a:t>Conclusiones y Defensa Oral</a:t>
            </a:r>
          </a:p>
        </p:txBody>
      </p:sp>
      <p:sp>
        <p:nvSpPr>
          <p:cNvPr id="3" name="TextBox 2"/>
          <p:cNvSpPr txBox="1"/>
          <p:nvPr/>
        </p:nvSpPr>
        <p:spPr>
          <a:xfrm>
            <a:off x="685800" y="1371600"/>
            <a:ext cx="10817352" cy="3474720"/>
          </a:xfrm>
          <a:prstGeom prst="rect">
            <a:avLst/>
          </a:prstGeom>
          <a:noFill/>
        </p:spPr>
        <p:txBody>
          <a:bodyPr wrap="square" lIns="0" tIns="0" bIns="0" rIns="0">
            <a:spAutoFit/>
          </a:bodyPr>
          <a:lstStyle/>
          <a:p>
            <a:pPr>
              <a:lnSpc>
                <a:spcPct val="125000"/>
              </a:lnSpc>
              <a:spcAft>
                <a:spcPts val="1400"/>
              </a:spcAft>
              <a:defRPr sz="1650">
                <a:solidFill>
                  <a:srgbClr val="F8FAFC"/>
                </a:solidFill>
                <a:latin typeface="Arial"/>
              </a:defRPr>
            </a:pPr>
            <a:r>
              <a:t>• Viabilidad Clínica: La combinación de IA local y reglas clínicas estructuradas es una solución segura, económica y ética para optimizar el flujo de triage administrativo.</a:t>
            </a:r>
          </a:p>
          <a:p>
            <a:pPr>
              <a:lnSpc>
                <a:spcPct val="125000"/>
              </a:lnSpc>
              <a:spcAft>
                <a:spcPts val="1400"/>
              </a:spcAft>
              <a:defRPr sz="1650">
                <a:solidFill>
                  <a:srgbClr val="F8FAFC"/>
                </a:solidFill>
                <a:latin typeface="Arial"/>
              </a:defRPr>
            </a:pPr>
            <a:r>
              <a:t>• Control de Versiones y Código Abierto: Historial incremental de desarrollo y commits cargados en la rama principal de GitHub (agente-ia-salud).</a:t>
            </a:r>
          </a:p>
          <a:p>
            <a:pPr>
              <a:lnSpc>
                <a:spcPct val="125000"/>
              </a:lnSpc>
              <a:spcAft>
                <a:spcPts val="1400"/>
              </a:spcAft>
              <a:defRPr sz="1650">
                <a:solidFill>
                  <a:srgbClr val="F8FAFC"/>
                </a:solidFill>
                <a:latin typeface="Arial"/>
              </a:defRPr>
            </a:pPr>
            <a:r>
              <a:t>• Próximos Pasos (Trabajo Futuro): Integración mediante APIs locales con los sistemas de historia clínica digital y desarrollo de interfaz web móvil responsive.</a:t>
            </a:r>
          </a:p>
          <a:p>
            <a:pPr>
              <a:lnSpc>
                <a:spcPct val="125000"/>
              </a:lnSpc>
              <a:spcAft>
                <a:spcPts val="1400"/>
              </a:spcAft>
              <a:defRPr sz="1650">
                <a:solidFill>
                  <a:srgbClr val="F8FAFC"/>
                </a:solidFill>
                <a:latin typeface="Arial"/>
              </a:defRPr>
            </a:pPr>
            <a:r>
              <a:t>• *El sistema está listo para ser ejecutado en vivo en esta sesión de defensa.*</a:t>
            </a:r>
          </a:p>
        </p:txBody>
      </p:sp>
      <p:sp>
        <p:nvSpPr>
          <p:cNvPr id="4" name="Rounded Rectangle 3"/>
          <p:cNvSpPr/>
          <p:nvPr/>
        </p:nvSpPr>
        <p:spPr>
          <a:xfrm>
            <a:off x="685800" y="5120640"/>
            <a:ext cx="10817352" cy="1280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defRPr sz="1300" b="1">
                <a:solidFill>
                  <a:srgbClr val="EAB308"/>
                </a:solidFill>
                <a:latin typeface="Arial"/>
              </a:defRPr>
            </a:pPr>
            <a:r>
              <a:t>💡 Clave de la Defensa (Guía Oral para Fernando):</a:t>
            </a:r>
          </a:p>
          <a:p>
            <a:pPr>
              <a:defRPr sz="1250" i="1">
                <a:solidFill>
                  <a:srgbClr val="F8FAFC"/>
                </a:solidFill>
                <a:latin typeface="Arial"/>
              </a:defRPr>
            </a:pPr>
            <a:r>
              <a:t>Cerrá la presentación con seguridad y agradeciendo la atención de la profesora Miriam Elena Coronel. Ofrecete en ese momento a ejecutar el script interactivo ('agente_ollama.py') por consola para demostrar el funcionamiento en vivo.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